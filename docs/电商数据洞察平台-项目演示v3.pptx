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电商数据洞察平台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Microsoft YaHei"/>
              </a:defRPr>
            </a:pPr>
            <a:r>
              <a:t>基于 Spark + HBase + Airflow 的大数据分析系统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27432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757D"/>
                </a:solidFill>
                <a:latin typeface="Microsoft YaHei"/>
              </a:defRPr>
            </a:pPr>
            <a:r>
              <a:t>大数据技术课程项目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  <a:latin typeface="Microsoft YaHei"/>
              </a:defRPr>
            </a:pPr>
            <a:r>
              <a:t>组员：___________    学号：___________    班级：___________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4688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5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商品数量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4688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25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75.5万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3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日销量记录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4688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25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22,970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3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用户评价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4688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4688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625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3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商品品类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模拟抖音电商数据采集 → 自动化 ETL 管道 → 多维分析 → 可视化展示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涵盖大数据全链路：Kafka 消息队列 → HDFS 分布式存储 → Spark 计算 → HBase 列式存储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Apache Airflow 每日自动调度，实现数据管道全自动化运行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Microsoft YaHei"/>
              </a:defRPr>
            </a:pPr>
            <a:r>
              <a:t>支持爆款指数分析、NLP 情感分析、销量趋势预测等功能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62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调度层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Apache Airflow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DAG 工作流编排，每日凌晨自动执行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7620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消息层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数据传输通道，解耦数据生产与消费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76200" cy="7315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HDFS + HBase + 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91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HDFS 分布式存储 | HBase 列式查询 | ES 全文搜索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76200" cy="7315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计算层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Spark (SQL + MLlib)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97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数据清洗、商品分析、NLP 分析、趋势聚合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762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57D"/>
                </a:solidFill>
                <a:latin typeface="Microsoft YaHei"/>
              </a:defRPr>
            </a:pPr>
            <a:r>
              <a:t>服务层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FastAPI + Vue3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303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REST API 后端 | ECharts 可视化前端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Airflow 自动化调度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DAG: ecommerce_etl_pipeline  |  调度: 每天凌晨 2:00  |  全部在Docker容器内执行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生成数据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airflow容器内</a:t>
            </a:r>
            <a:br/>
            <a:r>
              <a:t>并行生成3种JSON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168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26080" y="201168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初始化存储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backend容器</a:t>
            </a:r>
            <a:br/>
            <a:r>
              <a:t>写入HBase+ES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3192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011680"/>
            <a:ext cx="548640" cy="5486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上传HDFS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hdfs容器</a:t>
            </a:r>
            <a:br/>
            <a:r>
              <a:t>原始数据存储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5216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66560" y="2011680"/>
            <a:ext cx="548640" cy="548640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Spark清洗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spark容器</a:t>
            </a:r>
            <a:br/>
            <a:r>
              <a:t>去空/去重/格式化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7240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0" y="2011680"/>
            <a:ext cx="548640" cy="5486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Spark分析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spark容器</a:t>
            </a:r>
            <a:br/>
            <a:r>
              <a:t>3个作业并行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92640" y="2148840"/>
            <a:ext cx="36576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2011680"/>
            <a:ext cx="548640" cy="54864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计算指标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backend容器</a:t>
            </a:r>
            <a:br/>
            <a:r>
              <a:t>补充计算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任务依赖关系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generate_* (并行) → init_hbase_es → create_hdfs_dirs → upload_* (并行) → spark_cleaning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spark_cleaning → spark_product_analysis / spark_nlp_analysis / spark_trend_aggregation (并行)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spark_analysis* → compute_analysis / compute_review_analysis → finish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Airflow DAG 运行效果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YaHei"/>
              </a:defRPr>
            </a:pPr>
            <a:r>
              <a:t>DAG 全部任务执行成功（2026-06-17 运行记录）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800" y="1711960"/>
            <a:ext cx="11297920" cy="4805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rflow运行成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数据流转详解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YaHei"/>
              </a:defRPr>
            </a:pPr>
            <a:r>
              <a:t>从 Mock 数据生成到 Spark 计算，再到最终存储和前端展示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 1：Mock 数据生成 (Airflow 容器内)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商品数据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文件: products.json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Microsoft YaHei"/>
              </a:defRPr>
            </a:pPr>
            <a:r>
              <a:t>2,000 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8个品类 × 250商品</a:t>
            </a:r>
            <a:br/>
            <a:r>
              <a:t>品类: 手机/电脑/服装/美妆/食品/家居/数码/运动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核心字段: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product_id, name, category, brand, price, original_price, description, shop_name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4747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评价数据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文件: reviews.json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A745"/>
                </a:solidFill>
                <a:latin typeface="Microsoft YaHei"/>
              </a:defRPr>
            </a:pPr>
            <a:r>
              <a:t>22,970 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每商品 8-15 条评价</a:t>
            </a:r>
            <a:br/>
            <a:r>
              <a:t>评分分布: 好评60% + 中评20% + 差评20%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核心字段: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review_id, product_id, content, rating, sentiment, likes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47472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日销量数据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文件: monthly_sales.json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D7E14"/>
                </a:solidFill>
                <a:latin typeface="Microsoft YaHei"/>
              </a:defRPr>
            </a:pPr>
            <a:r>
              <a:t>730,000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2000商品 × 365天</a:t>
            </a:r>
            <a:br/>
            <a:r>
              <a:t>含星期效应、月度趋势、大促活动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核心字段: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product_id, date, daily_sales, daily_amount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 2：初始化存储 - Backend 容器内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HBase 存储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product 表 (RowKey: product_id)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商品基础信息: name, category, brand, price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review 表 (RowKey: review_id)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评价数据: content, rating, sentiment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monthly_sales 表 (RowKey: product_id_date)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日销量: dailySales, dailyAmount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  <a:latin typeface="Microsoft YaHei"/>
              </a:defRPr>
            </a:pPr>
            <a:r>
              <a:t>Elasticsearch 索引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索引名: products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name (text, ik_max_word 中文分词)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description (text, ik_max_word 中文分词)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category, brand (keyword)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→ price, originalPrice (float)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用途: 全文搜索 + 相似商品推荐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 3：HDFS 存储 + Spark 数据清洗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HDFS 目录结构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/douyin/raw/products/          → /douyin/cleaned/products/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/douyin/raw/reviews/           → /douyin/cleaned/reviews/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/douyin/raw/monthly_sales/     → /douyin/cleaned/monthly_sales/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Spark 清洗规则 (data_cleaning.py)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5080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商品数据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去除首尾空格 | 价格负值设为0 | 过滤空名称/空ID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50800" cy="5486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评价数据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去除首尾空格 | 评分限制1-5 | 过滤空内容/空ID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94959"/>
            <a:ext cx="50800" cy="5486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94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日销量数据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949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销量/金额负值设为0 | 过滤空日期/空ID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 4：Spark 分析计算（三作业并行）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商品分析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脚本: product_analysis_job.py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作业名: EcommerceProductAnalysis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爆款指数(hot_score)</a:t>
            </a:r>
            <a:br/>
            <a:r>
              <a:t>评价指标(好评率/差评率)</a:t>
            </a:r>
            <a:br/>
            <a:r>
              <a:t>销量指标(增长率)</a:t>
            </a:r>
            <a:br/>
            <a:r>
              <a:t>jieba关键词提取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4747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NLP 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脚本: nlp_analysis_job.py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作业名: EcommerceNLPAnalysis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46888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jieba中文分词</a:t>
            </a:r>
            <a:br/>
            <a:r>
              <a:t>SnowNLP情感分析</a:t>
            </a:r>
            <a:br/>
            <a:r>
              <a:t>高频关键词统计</a:t>
            </a:r>
            <a:br/>
            <a:r>
              <a:t>情感/评分分布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47472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趋势聚合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脚本: trend_aggregation_job.py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icrosoft YaHei"/>
              </a:defRPr>
            </a:pPr>
            <a:r>
              <a:t>作业名: EcommerceTrendAggregation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46888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日销量→月度聚合</a:t>
            </a:r>
            <a:br/>
            <a:r>
              <a:t>近12月趋势数组</a:t>
            </a:r>
            <a:br/>
            <a:r>
              <a:t>品类维度聚合</a:t>
            </a:r>
            <a:br/>
            <a:r>
              <a:t>月度对比分析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商品分析作业 - 爆款指数计算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爆款指数公式 (品类内比例法)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sales_score  = total_sales / 品类内最大total_sales      (0-1)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growth_score = monthly_growth / 100 (截断到0-1)          (0-1)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rating_score = avg_rating / 5.0                          (0-1)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review_score = review_count / 品类内最大review_count     (0-1)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hot_score = 0.4×sales + 0.3×growth + 0.2×rating + 0.1×review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输出到 HBase 的字段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metrics:hotScore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综合爆款指数 (0-1)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metrics:monthlyGrowth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月增长率 (%)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metrics:reviewCount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评价总数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metrics:avgRating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平均评分 (1-5)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metrics:positiveRate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好评率 (评分≥4)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metrics:negativeRate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差评率 (评分≤2)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metrics:topTags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高频关键词 Top 10 (JSON)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NLP 分析 + 趋势聚合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  <a:latin typeface="Microsoft YaHei"/>
              </a:defRPr>
            </a:pPr>
            <a:r>
              <a:t>NLP 评价分析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jieba 中文分词 + 停用词过滤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SnowNLP 情感分析 (0-1得分)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&lt; 0.3 → negative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0.3-0.7 → neutral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&gt; 0.7 → positive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输出到 HBase review_analysis: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stats:highFreqKeywords (JSON)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stats:sentimentDistribution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stats:ratingDistribution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D7E14"/>
                </a:solidFill>
                <a:latin typeface="Microsoft YaHei"/>
              </a:defRPr>
            </a:pPr>
            <a:r>
              <a:t>趋势聚合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日销量 → 月度聚合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(730,000条 → 24,000条月度数据)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聚合步骤: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1. 从date提取月份(YYYY-MM)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2. 按product_id+month聚合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3. 生成近12月销量数组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4. 按品类聚合趋势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输出到 HBase trend_data: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monthly:totalSales</a:t>
            </a:r>
          </a:p>
          <a:p>
            <a:pPr>
              <a:spcAft>
                <a:spcPts val="5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  monthly:YYYY-MM:sales (动态列)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HDFS 文件目录 - 运行效果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YaHei"/>
              </a:defRPr>
            </a:pPr>
            <a:r>
              <a:t>Spark 清洗后数据存储在 HDFS /douyin/cleaned/ 和 /douyin/processed/ 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248920" y="1711960"/>
            <a:ext cx="11663680" cy="4805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dfs文件目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Spark 作业运行日志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YaHei"/>
              </a:defRPr>
            </a:pPr>
            <a:r>
              <a:t>product_analysis_job 在 Spark Standalone 集群上执行，包含 Stage 划分和 Task 并行处理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48920" y="1711960"/>
            <a:ext cx="11663680" cy="4805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ark_product_analysis任务日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系统实现与前端展示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Microsoft YaHei"/>
              </a:defRPr>
            </a:pPr>
            <a:r>
              <a:t>Vue3 + ECharts 构建的数据可视化大屏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数据概览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YaHei"/>
              </a:defRPr>
            </a:pPr>
            <a:r>
              <a:t>实时掌握电商数据动态：商品总数、评价总数、爆款数量、品类分布、爆款指数趋势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248920" y="1711960"/>
            <a:ext cx="11663680" cy="4805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屏幕截图 2026-06-17 225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数据分析 - 爆款分析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YaHei"/>
              </a:defRPr>
            </a:pPr>
            <a:r>
              <a:t>爆款指数分布、评价评分分布、高增长商品散点图、热门商品排行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248920" y="1711960"/>
            <a:ext cx="11663680" cy="4805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921a731facebc2d24b7fdc3af1ff2f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数据分析 - 差评分析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Microsoft YaHei"/>
              </a:defRPr>
            </a:pPr>
            <a:r>
              <a:t>高频关键词 Top10、用户槽点统计、情感分布、评分分布、LDA主题建模、K-Means聚类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248920" y="1711960"/>
            <a:ext cx="11663680" cy="4805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屏幕截图 2026-06-17 2257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卖点推荐 + 相似爆款检索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AI 卖点推荐</a:t>
            </a:r>
          </a:p>
        </p:txBody>
      </p:sp>
      <p:sp>
        <p:nvSpPr>
          <p:cNvPr id="5" name="Rectangle 4"/>
          <p:cNvSpPr/>
          <p:nvPr/>
        </p:nvSpPr>
        <p:spPr>
          <a:xfrm>
            <a:off x="248920" y="1620520"/>
            <a:ext cx="5720080" cy="26111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屏幕截图 2026-06-17 230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566928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ES 相似爆款检索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2520" y="1620520"/>
            <a:ext cx="5720080" cy="26111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屏幕截图 2026-06-17 23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66928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卖点推荐：基于评价分析生成各品类的质量/客服/外观/物流/功能五大维度卖点建议</a:t>
            </a:r>
            <a:br/>
            <a:r>
              <a:t>相似检索：Elasticsearch ik_max_word 中文分词 + 多维度相似度计算，支持按品类筛选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关键技术点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品类内比例法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爆款指数计算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同一品类内，销量最高的商品 sales_score=1.0</a:t>
            </a:r>
            <a:br/>
            <a:r>
              <a:t>其他商品按比例获得 0-1 值</a:t>
            </a:r>
            <a:br/>
            <a:r>
              <a:t>确保不同品类之间具有可比性</a:t>
            </a:r>
            <a:br/>
            <a:br/>
            <a:r>
              <a:t>公式: value / 品类内最大值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747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爆款定义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前端展示逻辑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19456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每个品类按 hot_score 降序排列</a:t>
            </a:r>
            <a:br/>
            <a:r>
              <a:t>取前 20% 作为爆款</a:t>
            </a:r>
            <a:br/>
            <a:br/>
            <a:r>
              <a:t>Python: top_count = max(1, int(len(products)*0.2))</a:t>
            </a:r>
            <a:br/>
            <a:r>
              <a:t>每个品类独立计算，不受其他品类影响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47472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HBase 重试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连接容错机制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194560"/>
            <a:ext cx="3108960" cy="12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装饰器 @_retry_on_disconnect</a:t>
            </a:r>
            <a:br/>
            <a:r>
              <a:t>连接断开时自动重连并重试</a:t>
            </a:r>
            <a:br/>
            <a:r>
              <a:t>最多重试 2 次</a:t>
            </a:r>
            <a:br/>
            <a:br/>
            <a:r>
              <a:t>检测关键词: timed out, connection,</a:t>
            </a:r>
            <a:br/>
            <a:r>
              <a:t>broken, socket, reset, closed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数据量级汇总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34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75.5万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原始记录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5603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34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8A745"/>
                </a:solidFill>
                <a:latin typeface="Microsoft YaHei"/>
              </a:defRPr>
            </a:pPr>
            <a:r>
              <a:t>6,000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4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分析结果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256032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34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D7E14"/>
                </a:solidFill>
                <a:latin typeface="Microsoft YaHei"/>
              </a:defRPr>
            </a:pPr>
            <a:r>
              <a:t>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4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ES索引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28016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280160"/>
            <a:ext cx="2560320" cy="50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34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Microsoft YaHei"/>
              </a:defRPr>
            </a:pPr>
            <a:r>
              <a:t>6张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04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icrosoft YaHei"/>
              </a:defRPr>
            </a:pPr>
            <a:r>
              <a:t>HBase表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Microsoft YaHei"/>
              </a:defRPr>
            </a:pPr>
            <a:r>
              <a:t>各阶段数据量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51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Mock 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51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商品 2,000 | 评价 22,970 | 日销量 730,000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91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HBase 原始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891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product 2,000 | review 22,970 | monthly_sales 730,000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8056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31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ES 索引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31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products 2,000 (全文搜索)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12064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7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Spark 清洗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7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HDFS cleaned 目录 (与原始数据量一致)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760720"/>
            <a:ext cx="228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811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Spark 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1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product_analysis 2,000 | review_analysis 2,000 | trend_data 2,000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结论与创新点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Microsoft YaHei"/>
              </a:defRPr>
            </a:pPr>
            <a:r>
              <a:t>创新点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品类内比例法爆款指数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采用品类内归一化方法，解决跨品类可比性问题。销量、增长率、评分、评价量四维加权，权重可调。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651760" cy="3200400"/>
          </a:xfrm>
          <a:prstGeom prst="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65176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Microsoft YaHei"/>
              </a:defRPr>
            </a:pPr>
            <a:r>
              <a:t>创新点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NLP 多维评价分析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jieba分词 + SnowNLP情感分析 + LDA主题建模 + K-Means聚类，四层分析挖掘用户真实反馈。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51760" cy="3200400"/>
          </a:xfrm>
          <a:prstGeom prst="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51760" cy="508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7E14"/>
                </a:solidFill>
                <a:latin typeface="Microsoft YaHei"/>
              </a:defRPr>
            </a:pPr>
            <a:r>
              <a:t>创新点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ES 全文搜索 + 相似推荐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Elasticsearch ik_max_word 中文分词，支持全文检索和多维度相似商品推荐。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463040"/>
            <a:ext cx="2651760" cy="3200400"/>
          </a:xfrm>
          <a:prstGeom prst="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463040"/>
            <a:ext cx="265176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创新点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Airflow 全链路自动化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37744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icrosoft YaHei"/>
              </a:defRPr>
            </a:pPr>
            <a:r>
              <a:t>DAG 编排 15 个任务，每日凌晨自动执行完整 ETL 流程，全部 Docker 容器化部署。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接入真实抖音电商API，实现真实数据采集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引入Flink实时流处理，支持实时销量监控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集成机器学习模型，实现销量预测和智能推荐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